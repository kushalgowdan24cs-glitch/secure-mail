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750000"/>
            <a:ext cx="5924550" cy="495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SIH26159</a:t>
            </a:r>
            <a:endParaRPr lang="en-US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US" sz="1300" b="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600" b="0" dirty="0">
                <a:latin typeface="Arial" panose="020B0604020202020204" pitchFamily="34" charset="0"/>
                <a:cs typeface="Arial" panose="020B0604020202020204" pitchFamily="34" charset="0"/>
              </a:rPr>
              <a:t>SecureMailScope - AI-Assisted Cryptographic Security Assessment for Secure Email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sz="2400" b="0" dirty="0">
                <a:latin typeface="Arial" panose="020B0604020202020204" pitchFamily="34" charset="0"/>
                <a:cs typeface="Arial" panose="020B0604020202020204" pitchFamily="34" charset="0"/>
              </a:rPr>
              <a:t>  Blockchain &amp; Cybersecurity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141780</a:t>
            </a:r>
            <a:endParaRPr lang="en-US" sz="15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Nexus Core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SecureMailScope: AI Mail Crypto Audit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Nexus Core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609600" y="1780000"/>
            <a:ext cx="10974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Arial"/>
              </a:rPr>
              <a:t>Weak ciphers, expired certificates and misconfigured DKIM/SPF/DMARC records quietly expose email systems to interception and spoofing. SecureMailScope uses AI to scan mail-server cryptographic configurations and flags exploitable weaknesses before attackers do.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681000" y="3350000"/>
            <a:ext cx="2550000" cy="220000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470000" rIns="110000" rtlCol="0" anchor="t"/>
          <a:lstStyle/>
          <a:p>
            <a:pPr algn="ctr"/>
            <a:r>
              <a:rPr sz="1300" b="1">
                <a:solidFill>
                  <a:srgbClr val="1F497D"/>
                </a:solidFill>
                <a:latin typeface="Arial"/>
              </a:rPr>
              <a:t>Protocol &amp; Cert Scan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595959"/>
                </a:solidFill>
                <a:latin typeface="Arial"/>
              </a:rPr>
              <a:t>SMTP/TLS handshake, DKIM, SPF, DMARC &amp; X.509 cert extraction</a:t>
            </a:r>
          </a:p>
        </p:txBody>
      </p:sp>
      <p:sp>
        <p:nvSpPr>
          <p:cNvPr id="15364" name="Oval 15363"/>
          <p:cNvSpPr/>
          <p:nvPr/>
        </p:nvSpPr>
        <p:spPr>
          <a:xfrm>
            <a:off x="1681000" y="2880000"/>
            <a:ext cx="550000" cy="55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000" tIns="10000" rIns="10000" bIns="10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65" name="Right Arrow 15364"/>
          <p:cNvSpPr/>
          <p:nvPr/>
        </p:nvSpPr>
        <p:spPr>
          <a:xfrm>
            <a:off x="3246000" y="4360000"/>
            <a:ext cx="180000" cy="18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Rounded Rectangle 15365"/>
          <p:cNvSpPr/>
          <p:nvPr/>
        </p:nvSpPr>
        <p:spPr>
          <a:xfrm>
            <a:off x="3441000" y="3350000"/>
            <a:ext cx="2550000" cy="220000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470000" rIns="110000" rtlCol="0" anchor="t"/>
          <a:lstStyle/>
          <a:p>
            <a:pPr algn="ctr"/>
            <a:r>
              <a:rPr sz="1300" b="1">
                <a:solidFill>
                  <a:srgbClr val="1F497D"/>
                </a:solidFill>
                <a:latin typeface="Arial"/>
              </a:rPr>
              <a:t>AI Vulnerability Engine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595959"/>
                </a:solidFill>
                <a:latin typeface="Arial"/>
              </a:rPr>
              <a:t>ML model flags weak ciphers &amp; deprecated protocols</a:t>
            </a:r>
          </a:p>
        </p:txBody>
      </p:sp>
      <p:sp>
        <p:nvSpPr>
          <p:cNvPr id="15367" name="Oval 15366"/>
          <p:cNvSpPr/>
          <p:nvPr/>
        </p:nvSpPr>
        <p:spPr>
          <a:xfrm>
            <a:off x="4441000" y="2880000"/>
            <a:ext cx="550000" cy="55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000" tIns="10000" rIns="10000" bIns="10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68" name="Right Arrow 15367"/>
          <p:cNvSpPr/>
          <p:nvPr/>
        </p:nvSpPr>
        <p:spPr>
          <a:xfrm>
            <a:off x="6006000" y="4360000"/>
            <a:ext cx="180000" cy="18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9" name="Rounded Rectangle 15368"/>
          <p:cNvSpPr/>
          <p:nvPr/>
        </p:nvSpPr>
        <p:spPr>
          <a:xfrm>
            <a:off x="6201000" y="3350000"/>
            <a:ext cx="2550000" cy="220000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470000" rIns="110000" rtlCol="0" anchor="t"/>
          <a:lstStyle/>
          <a:p>
            <a:pPr algn="ctr"/>
            <a:r>
              <a:rPr sz="1300" b="1">
                <a:solidFill>
                  <a:srgbClr val="1F497D"/>
                </a:solidFill>
                <a:latin typeface="Arial"/>
              </a:rPr>
              <a:t>Crypto Risk Scoring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595959"/>
                </a:solidFill>
                <a:latin typeface="Arial"/>
              </a:rPr>
              <a:t>Severity scored against NIST &amp; OWASP crypto baselines</a:t>
            </a:r>
          </a:p>
        </p:txBody>
      </p:sp>
      <p:sp>
        <p:nvSpPr>
          <p:cNvPr id="15370" name="Oval 15369"/>
          <p:cNvSpPr/>
          <p:nvPr/>
        </p:nvSpPr>
        <p:spPr>
          <a:xfrm>
            <a:off x="7201000" y="2880000"/>
            <a:ext cx="550000" cy="55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000" tIns="10000" rIns="10000" bIns="10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71" name="Right Arrow 15370"/>
          <p:cNvSpPr/>
          <p:nvPr/>
        </p:nvSpPr>
        <p:spPr>
          <a:xfrm>
            <a:off x="8766000" y="4360000"/>
            <a:ext cx="180000" cy="18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2" name="Rounded Rectangle 15371"/>
          <p:cNvSpPr/>
          <p:nvPr/>
        </p:nvSpPr>
        <p:spPr>
          <a:xfrm>
            <a:off x="8961000" y="3350000"/>
            <a:ext cx="2550000" cy="2200000"/>
          </a:xfrm>
          <a:prstGeom prst="roundRect">
            <a:avLst>
              <a:gd name="adj" fmla="val 8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470000" rIns="110000" rtlCol="0" anchor="t"/>
          <a:lstStyle/>
          <a:p>
            <a:pPr algn="ctr"/>
            <a:r>
              <a:rPr sz="1300" b="1">
                <a:solidFill>
                  <a:srgbClr val="1F497D"/>
                </a:solidFill>
                <a:latin typeface="Arial"/>
              </a:rPr>
              <a:t>Compliance Dashboard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595959"/>
                </a:solidFill>
                <a:latin typeface="Arial"/>
              </a:rPr>
              <a:t>Dashboard + API alerts with remediation guidance</a:t>
            </a:r>
          </a:p>
        </p:txBody>
      </p:sp>
      <p:sp>
        <p:nvSpPr>
          <p:cNvPr id="15373" name="Oval 15372"/>
          <p:cNvSpPr/>
          <p:nvPr/>
        </p:nvSpPr>
        <p:spPr>
          <a:xfrm>
            <a:off x="9961000" y="2880000"/>
            <a:ext cx="550000" cy="55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000" tIns="10000" rIns="10000" bIns="10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Nexus Core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0000" y="1650000"/>
            <a:ext cx="11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Arial"/>
              </a:rPr>
              <a:t>A modular pipeline ingests mail-server handshake data, applies AI-based cryptographic classification, and validates findings against compliance baselines — deployed as a lightweight, scalable web service.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729000" y="2710000"/>
            <a:ext cx="2020000" cy="2350000"/>
          </a:xfrm>
          <a:prstGeom prst="roundRect">
            <a:avLst>
              <a:gd name="adj" fmla="val 9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460000" rIns="90000" rtlCol="0" anchor="t"/>
          <a:lstStyle/>
          <a:p>
            <a:pPr algn="ctr"/>
            <a:r>
              <a:rPr sz="1200" b="1">
                <a:solidFill>
                  <a:srgbClr val="1F497D"/>
                </a:solidFill>
                <a:latin typeface="Arial"/>
              </a:rPr>
              <a:t>Data Ingestion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595959"/>
                </a:solidFill>
                <a:latin typeface="Arial"/>
              </a:rPr>
              <a:t>SMTP/IMAP handshake +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595959"/>
                </a:solidFill>
                <a:latin typeface="Arial"/>
              </a:rPr>
              <a:t>TLS &amp; cert capture</a:t>
            </a:r>
          </a:p>
        </p:txBody>
      </p:sp>
      <p:sp>
        <p:nvSpPr>
          <p:cNvPr id="17412" name="Oval 17411"/>
          <p:cNvSpPr/>
          <p:nvPr/>
        </p:nvSpPr>
        <p:spPr>
          <a:xfrm>
            <a:off x="1489000" y="2264342"/>
            <a:ext cx="500000" cy="50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000" tIns="10000" rIns="10000" bIns="1000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3" name="Right Arrow 17412"/>
          <p:cNvSpPr/>
          <p:nvPr/>
        </p:nvSpPr>
        <p:spPr>
          <a:xfrm>
            <a:off x="2814000" y="3655000"/>
            <a:ext cx="114000" cy="14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2907500" y="2710000"/>
            <a:ext cx="2020000" cy="2350000"/>
          </a:xfrm>
          <a:prstGeom prst="roundRect">
            <a:avLst>
              <a:gd name="adj" fmla="val 9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460000" rIns="90000" rtlCol="0" anchor="t"/>
          <a:lstStyle/>
          <a:p>
            <a:pPr algn="ctr"/>
            <a:r>
              <a:rPr sz="1200" b="1">
                <a:solidFill>
                  <a:srgbClr val="1F497D"/>
                </a:solidFill>
                <a:latin typeface="Arial"/>
              </a:rPr>
              <a:t>Preprocessing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595959"/>
                </a:solidFill>
                <a:latin typeface="Arial"/>
              </a:rPr>
              <a:t>Header normalization,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595959"/>
                </a:solidFill>
                <a:latin typeface="Arial"/>
              </a:rPr>
              <a:t>cipher-suite parsing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3696000" y="2255000"/>
            <a:ext cx="500000" cy="50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000" tIns="10000" rIns="10000" bIns="1000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4964000" y="3655000"/>
            <a:ext cx="114000" cy="14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5086000" y="2710000"/>
            <a:ext cx="2020000" cy="2350000"/>
          </a:xfrm>
          <a:prstGeom prst="roundRect">
            <a:avLst>
              <a:gd name="adj" fmla="val 9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460000" rIns="90000" rtlCol="0" anchor="t"/>
          <a:lstStyle/>
          <a:p>
            <a:pPr algn="ctr"/>
            <a:r>
              <a:rPr sz="1200" b="1">
                <a:solidFill>
                  <a:srgbClr val="1F497D"/>
                </a:solidFill>
                <a:latin typeface="Arial"/>
              </a:rPr>
              <a:t>AI Classification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595959"/>
                </a:solidFill>
                <a:latin typeface="Arial"/>
              </a:rPr>
              <a:t>Transformer + Random Forest ensemble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595959"/>
                </a:solidFill>
                <a:latin typeface="Arial"/>
              </a:rPr>
              <a:t>(weak / deprecated / misconfigured / secure)</a:t>
            </a:r>
          </a:p>
        </p:txBody>
      </p:sp>
      <p:sp>
        <p:nvSpPr>
          <p:cNvPr id="17418" name="Oval 17417"/>
          <p:cNvSpPr/>
          <p:nvPr/>
        </p:nvSpPr>
        <p:spPr>
          <a:xfrm>
            <a:off x="5874500" y="2255000"/>
            <a:ext cx="500000" cy="50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000" tIns="10000" rIns="10000" bIns="10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19" name="Right Arrow 17418"/>
          <p:cNvSpPr/>
          <p:nvPr/>
        </p:nvSpPr>
        <p:spPr>
          <a:xfrm>
            <a:off x="7114000" y="3655000"/>
            <a:ext cx="114000" cy="14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7244000" y="2710000"/>
            <a:ext cx="2020000" cy="2350000"/>
          </a:xfrm>
          <a:prstGeom prst="roundRect">
            <a:avLst>
              <a:gd name="adj" fmla="val 9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460000" rIns="90000" rtlCol="0" anchor="t"/>
          <a:lstStyle/>
          <a:p>
            <a:pPr algn="ctr"/>
            <a:r>
              <a:rPr sz="1200" b="1">
                <a:solidFill>
                  <a:srgbClr val="1F497D"/>
                </a:solidFill>
                <a:latin typeface="Arial"/>
              </a:rPr>
              <a:t>Blockchain Audit Log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595959"/>
                </a:solidFill>
                <a:latin typeface="Arial"/>
              </a:rPr>
              <a:t>Immutable ledger of scan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595959"/>
                </a:solidFill>
                <a:latin typeface="Arial"/>
              </a:rPr>
              <a:t>results &amp; timestamps</a:t>
            </a:r>
          </a:p>
        </p:txBody>
      </p:sp>
      <p:sp>
        <p:nvSpPr>
          <p:cNvPr id="17421" name="Oval 17420"/>
          <p:cNvSpPr/>
          <p:nvPr/>
        </p:nvSpPr>
        <p:spPr>
          <a:xfrm>
            <a:off x="8010250" y="2264342"/>
            <a:ext cx="500000" cy="50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000" tIns="10000" rIns="10000" bIns="10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9264000" y="3655000"/>
            <a:ext cx="114000" cy="140000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9402000" y="2710000"/>
            <a:ext cx="2020000" cy="2350000"/>
          </a:xfrm>
          <a:prstGeom prst="roundRect">
            <a:avLst>
              <a:gd name="adj" fmla="val 9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460000" rIns="90000" rtlCol="0" anchor="t"/>
          <a:lstStyle/>
          <a:p>
            <a:pPr algn="ctr"/>
            <a:r>
              <a:rPr sz="1200" b="1">
                <a:solidFill>
                  <a:srgbClr val="1F497D"/>
                </a:solidFill>
                <a:latin typeface="Arial"/>
              </a:rPr>
              <a:t>Alerts &amp; Dashboard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595959"/>
                </a:solidFill>
                <a:latin typeface="Arial"/>
              </a:rPr>
              <a:t>REST API + interactive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595959"/>
                </a:solidFill>
                <a:latin typeface="Arial"/>
              </a:rPr>
              <a:t>risk dashboard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10168250" y="2264342"/>
            <a:ext cx="500000" cy="50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000" tIns="10000" rIns="10000" bIns="10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00000" y="5160000"/>
            <a:ext cx="1757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rIns="20000" rtlCol="0" anchor="ctr"/>
          <a:lstStyle/>
          <a:p>
            <a:pPr algn="ctr"/>
            <a:r>
              <a:rPr sz="1000" b="1">
                <a:solidFill>
                  <a:srgbClr val="0070C0"/>
                </a:solidFill>
                <a:latin typeface="Arial"/>
              </a:rPr>
              <a:t>Python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2387000" y="5160000"/>
            <a:ext cx="1757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rIns="20000" rtlCol="0" anchor="ctr"/>
          <a:lstStyle/>
          <a:p>
            <a:pPr algn="ctr"/>
            <a:r>
              <a:rPr sz="1000" b="1">
                <a:solidFill>
                  <a:srgbClr val="0070C0"/>
                </a:solidFill>
                <a:latin typeface="Arial"/>
              </a:rPr>
              <a:t>TensorFlow / Scikit-learn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274000" y="5160000"/>
            <a:ext cx="1757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rIns="20000" rtlCol="0" anchor="ctr"/>
          <a:lstStyle/>
          <a:p>
            <a:pPr algn="ctr"/>
            <a:r>
              <a:rPr sz="1000" b="1">
                <a:solidFill>
                  <a:srgbClr val="0070C0"/>
                </a:solidFill>
                <a:latin typeface="Arial"/>
              </a:rPr>
              <a:t>Hyperledger Fabric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161000" y="5160000"/>
            <a:ext cx="1757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rIns="20000" rtlCol="0" anchor="ctr"/>
          <a:lstStyle/>
          <a:p>
            <a:pPr algn="ctr"/>
            <a:r>
              <a:rPr sz="1000" b="1">
                <a:solidFill>
                  <a:srgbClr val="0070C0"/>
                </a:solidFill>
                <a:latin typeface="Arial"/>
              </a:rPr>
              <a:t>FastAPI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8048000" y="5160000"/>
            <a:ext cx="1757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rIns="20000" rtlCol="0" anchor="ctr"/>
          <a:lstStyle/>
          <a:p>
            <a:pPr algn="ctr"/>
            <a:r>
              <a:rPr sz="1000" b="1">
                <a:solidFill>
                  <a:srgbClr val="0070C0"/>
                </a:solidFill>
                <a:latin typeface="Arial"/>
              </a:rPr>
              <a:t>React Dashboard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9935000" y="5160000"/>
            <a:ext cx="1757000" cy="4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000" rIns="20000" rtlCol="0" anchor="ctr"/>
          <a:lstStyle/>
          <a:p>
            <a:pPr algn="ctr"/>
            <a:r>
              <a:rPr sz="1000" b="1">
                <a:solidFill>
                  <a:srgbClr val="0070C0"/>
                </a:solidFill>
                <a:latin typeface="Arial"/>
              </a:rPr>
              <a:t>AWS / GCP 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Nexus Core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0000" y="1650000"/>
            <a:ext cx="11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Arial"/>
              </a:rPr>
              <a:t>Built on open cryptographic standards and proven scanning techniques — keeping the solution technically feasible, low-cost and ready to scale across enterprise mail systems.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0000" y="2500000"/>
            <a:ext cx="5350000" cy="500000"/>
          </a:xfrm>
          <a:prstGeom prst="roundRect">
            <a:avLst>
              <a:gd name="adj" fmla="val 15000"/>
            </a:avLst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KEY CHALLENGES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350000" y="2500000"/>
            <a:ext cx="5350000" cy="500000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MITIGATION STRATEGY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00000" y="3150000"/>
            <a:ext cx="5350000" cy="866666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45000" rIns="90000" bIns="45000" rtlCol="0" anchor="ctr"/>
          <a:lstStyle/>
          <a:p>
            <a:pPr algn="l"/>
            <a:endParaRPr/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1F497D"/>
                </a:solidFill>
                <a:latin typeface="Arial"/>
              </a:rPr>
              <a:t>Diverse mail-server stacks (Exchange, Postfix, Sendmail) complicate uniform scanning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350000" y="3150000"/>
            <a:ext cx="5350000" cy="866666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45000" rIns="90000" bIns="45000" rtlCol="0" anchor="ctr"/>
          <a:lstStyle/>
          <a:p>
            <a:pPr algn="l"/>
            <a:endParaRPr/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1F497D"/>
                </a:solidFill>
                <a:latin typeface="Arial"/>
              </a:rPr>
              <a:t>Modular protocol adapters with standardized RFC 5321/8446 parsing layer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00000" y="4166666"/>
            <a:ext cx="5350000" cy="866666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45000" rIns="90000" bIns="45000" rtlCol="0" anchor="ctr"/>
          <a:lstStyle/>
          <a:p>
            <a:pPr algn="l"/>
            <a:endParaRPr/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1F497D"/>
                </a:solidFill>
                <a:latin typeface="Arial"/>
              </a:rPr>
              <a:t>False positives from legacy-but-safe cipher configurations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350000" y="4166666"/>
            <a:ext cx="5350000" cy="866666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45000" rIns="90000" bIns="45000" rtlCol="0" anchor="ctr"/>
          <a:lstStyle/>
          <a:p>
            <a:pPr algn="l"/>
            <a:endParaRPr/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1F497D"/>
                </a:solidFill>
                <a:latin typeface="Arial"/>
              </a:rPr>
              <a:t>ML classifier trained on labeled TLS/cipher benchmark datasets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00000" y="5183332"/>
            <a:ext cx="5350000" cy="866666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45000" rIns="90000" bIns="45000" rtlCol="0" anchor="ctr"/>
          <a:lstStyle/>
          <a:p>
            <a:pPr algn="l"/>
            <a:endParaRPr/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1F497D"/>
                </a:solidFill>
                <a:latin typeface="Arial"/>
              </a:rPr>
              <a:t>Scan overhead on large mail infrastructures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350000" y="5183332"/>
            <a:ext cx="5350000" cy="866666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0" tIns="45000" rIns="90000" bIns="45000" rtlCol="0" anchor="ctr"/>
          <a:lstStyle/>
          <a:p>
            <a:pPr algn="l"/>
            <a:endParaRPr/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1F497D"/>
                </a:solidFill>
                <a:latin typeface="Arial"/>
              </a:rPr>
              <a:t>Async batch scanning; blockchain-based incremental audit caching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Nexus Core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0000" y="1650000"/>
            <a:ext cx="11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Arial"/>
              </a:rPr>
              <a:t>Early detection of cryptographic weaknesses prevents breaches, protects sensitive communication, and strengthens India's cybersecurity posture.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0000" y="2500000"/>
            <a:ext cx="5450000" cy="16500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60000" rIns="160000" rtlCol="0" anchor="ctr"/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Security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  <a:latin typeface="Arial"/>
              </a:rPr>
              <a:t>Blocks phishing &amp; MITM attacks by exposing weak ciphers before exploitation</a:t>
            </a:r>
          </a:p>
        </p:txBody>
      </p:sp>
      <p:sp>
        <p:nvSpPr>
          <p:cNvPr id="17412" name="Oval 17411"/>
          <p:cNvSpPr/>
          <p:nvPr/>
        </p:nvSpPr>
        <p:spPr>
          <a:xfrm>
            <a:off x="630000" y="2975000"/>
            <a:ext cx="700000" cy="700000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000" tIns="10000" rIns="10000" bIns="1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SEC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250000" y="2500000"/>
            <a:ext cx="5450000" cy="16500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60000" rIns="160000" rtlCol="0" anchor="ctr"/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Economic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  <a:latin typeface="Arial"/>
              </a:rPr>
              <a:t>Reduces breach costs, compliance fines and cyber-insurance premiums</a:t>
            </a:r>
          </a:p>
        </p:txBody>
      </p:sp>
      <p:sp>
        <p:nvSpPr>
          <p:cNvPr id="17414" name="Oval 17413"/>
          <p:cNvSpPr/>
          <p:nvPr/>
        </p:nvSpPr>
        <p:spPr>
          <a:xfrm>
            <a:off x="6380000" y="2975000"/>
            <a:ext cx="700000" cy="700000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000" tIns="10000" rIns="10000" bIns="1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ECO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00000" y="4400000"/>
            <a:ext cx="5450000" cy="16500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60000" rIns="160000" rtlCol="0" anchor="ctr"/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Privacy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  <a:latin typeface="Arial"/>
              </a:rPr>
              <a:t>Protects sensitive citizen and enterprise data from eavesdropping</a:t>
            </a:r>
          </a:p>
        </p:txBody>
      </p:sp>
      <p:sp>
        <p:nvSpPr>
          <p:cNvPr id="17416" name="Oval 17415"/>
          <p:cNvSpPr/>
          <p:nvPr/>
        </p:nvSpPr>
        <p:spPr>
          <a:xfrm>
            <a:off x="630000" y="4875000"/>
            <a:ext cx="700000" cy="70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000" tIns="10000" rIns="10000" bIns="1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PRIV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250000" y="4400000"/>
            <a:ext cx="5450000" cy="16500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60000" rIns="160000" rtlCol="0" anchor="ctr"/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Governance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595959"/>
                </a:solidFill>
                <a:latin typeface="Arial"/>
              </a:rPr>
              <a:t>Gives CERT-In &amp; sector regulators real-time dashboards for compliance oversight</a:t>
            </a:r>
          </a:p>
        </p:txBody>
      </p:sp>
      <p:sp>
        <p:nvSpPr>
          <p:cNvPr id="17418" name="Oval 17417"/>
          <p:cNvSpPr/>
          <p:nvPr/>
        </p:nvSpPr>
        <p:spPr>
          <a:xfrm>
            <a:off x="6380000" y="4875000"/>
            <a:ext cx="700000" cy="70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000" tIns="10000" rIns="10000" bIns="1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GOV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Nexus Core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915000" y="2426666"/>
            <a:ext cx="30000" cy="3146666"/>
          </a:xfrm>
          <a:prstGeom prst="round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Oval 17410"/>
          <p:cNvSpPr/>
          <p:nvPr/>
        </p:nvSpPr>
        <p:spPr>
          <a:xfrm>
            <a:off x="500000" y="1996666"/>
            <a:ext cx="860000" cy="86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000" tIns="10000" rIns="10000" bIns="1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DATA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1150000" y="1740000"/>
            <a:ext cx="9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F497D"/>
                </a:solidFill>
                <a:latin typeface="Arial"/>
              </a:rPr>
              <a:t>Data Sources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150000" y="2070000"/>
            <a:ext cx="10300000" cy="103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350" b="0">
                <a:solidFill>
                  <a:srgbClr val="595959"/>
                </a:solidFill>
                <a:latin typeface="Arial"/>
              </a:rPr>
              <a:t>Qualys SSL Labs – public TLS/SSL configuration scan API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350" b="0">
                <a:solidFill>
                  <a:srgbClr val="595959"/>
                </a:solidFill>
                <a:latin typeface="Arial"/>
              </a:rPr>
              <a:t>NVD / CVE – National Vulnerability Database for cryptographic CVEs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350" b="0">
                <a:solidFill>
                  <a:srgbClr val="595959"/>
                </a:solidFill>
                <a:latin typeface="Arial"/>
              </a:rPr>
              <a:t>Public Ethereum/Hyperledger testnets – audit-trail proof of concept</a:t>
            </a:r>
          </a:p>
        </p:txBody>
      </p:sp>
      <p:sp>
        <p:nvSpPr>
          <p:cNvPr id="17414" name="Oval 17413"/>
          <p:cNvSpPr/>
          <p:nvPr/>
        </p:nvSpPr>
        <p:spPr>
          <a:xfrm>
            <a:off x="500000" y="3569999"/>
            <a:ext cx="860000" cy="860000"/>
          </a:xfrm>
          <a:prstGeom prst="ellipse">
            <a:avLst/>
          </a:prstGeom>
          <a:solidFill>
            <a:srgbClr val="F79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000" tIns="10000" rIns="10000" bIns="1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PAPER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150000" y="3313333"/>
            <a:ext cx="9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F497D"/>
                </a:solidFill>
                <a:latin typeface="Arial"/>
              </a:rPr>
              <a:t>Research Basis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150000" y="3643333"/>
            <a:ext cx="10300000" cy="103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350" b="0">
                <a:solidFill>
                  <a:srgbClr val="595959"/>
                </a:solidFill>
                <a:latin typeface="Arial"/>
              </a:rPr>
              <a:t>Reuter et al. (2020), “Secure Email – A Usability Study”, TU Munich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350" b="0">
                <a:solidFill>
                  <a:srgbClr val="595959"/>
                </a:solidFill>
                <a:latin typeface="Arial"/>
              </a:rPr>
              <a:t>NIST SP 800-52 Rev. 2, Guidelines for TLS Implementations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500000" y="5143332"/>
            <a:ext cx="860000" cy="860000"/>
          </a:xfrm>
          <a:prstGeom prst="ellipse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000" tIns="10000" rIns="10000" bIns="1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REF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150000" y="4886666"/>
            <a:ext cx="9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1F497D"/>
                </a:solidFill>
                <a:latin typeface="Arial"/>
              </a:rPr>
              <a:t>Standards &amp; Reports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150000" y="5216666"/>
            <a:ext cx="10300000" cy="1033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350" b="0">
                <a:solidFill>
                  <a:srgbClr val="595959"/>
                </a:solidFill>
                <a:latin typeface="Arial"/>
              </a:rPr>
              <a:t>CERT-In Guidelines on Secure Email &amp; Cryptographic Hygiene</a:t>
            </a:r>
          </a:p>
          <a:p>
            <a:pPr marL="228600" indent="-228600" algn="l">
              <a:spcAft>
                <a:spcPts val="600"/>
              </a:spcAft>
              <a:buFont typeface="Arial"/>
              <a:buChar char="•"/>
            </a:pPr>
            <a:r>
              <a:rPr sz="1350" b="0">
                <a:solidFill>
                  <a:srgbClr val="595959"/>
                </a:solidFill>
                <a:latin typeface="Arial"/>
              </a:rPr>
              <a:t>RFC 8446 (TLS 1.3) &amp; RFC 6376 (DKIM) standards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7493</TotalTime>
  <Words>528</Words>
  <Application>Microsoft Office PowerPoint</Application>
  <PresentationFormat>Widescreen</PresentationFormat>
  <Paragraphs>115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SecureMailScope: AI Mail Crypto Audit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Kushal Gowda</cp:lastModifiedBy>
  <cp:revision>149</cp:revision>
  <dcterms:created xsi:type="dcterms:W3CDTF">2013-12-12T18:46:50Z</dcterms:created>
  <dcterms:modified xsi:type="dcterms:W3CDTF">2026-09-24T02:10:59Z</dcterms:modified>
  <cp:category/>
</cp:coreProperties>
</file>